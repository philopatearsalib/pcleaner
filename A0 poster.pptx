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xlsx" ContentType="application/vnd.openxmlformats-officedocument.spreadsheetml.sheet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sldIdLst>
    <p:sldId id="256" r:id="rId2"/>
  </p:sldIdLst>
  <p:sldSz cx="42808525" cy="30279975"/>
  <p:notesSz cx="6858000" cy="9144000"/>
  <p:defaultTextStyle>
    <a:defPPr>
      <a:defRPr lang="en-US"/>
    </a:defPPr>
    <a:lvl1pPr marL="0" algn="l" defTabSz="4175613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1pPr>
    <a:lvl2pPr marL="2087804" algn="l" defTabSz="4175613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2pPr>
    <a:lvl3pPr marL="4175613" algn="l" defTabSz="4175613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3pPr>
    <a:lvl4pPr marL="6263417" algn="l" defTabSz="4175613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4pPr>
    <a:lvl5pPr marL="8351221" algn="l" defTabSz="4175613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5pPr>
    <a:lvl6pPr marL="10439030" algn="l" defTabSz="4175613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6pPr>
    <a:lvl7pPr marL="12526834" algn="l" defTabSz="4175613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7pPr>
    <a:lvl8pPr marL="14614639" algn="l" defTabSz="4175613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8pPr>
    <a:lvl9pPr marL="16702447" algn="l" defTabSz="4175613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>
    <p:restoredLeft sz="15620"/>
    <p:restoredTop sz="99195" autoAdjust="0"/>
  </p:normalViewPr>
  <p:slideViewPr>
    <p:cSldViewPr>
      <p:cViewPr varScale="1">
        <p:scale>
          <a:sx n="26" d="100"/>
          <a:sy n="26" d="100"/>
        </p:scale>
        <p:origin x="-2232" y="-102"/>
      </p:cViewPr>
      <p:guideLst>
        <p:guide orient="horz" pos="9537"/>
        <p:guide pos="1348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dirty="0" smtClean="0"/>
              <a:t>How often would you use this product/service?</a:t>
            </a:r>
            <a:endParaRPr lang="en-US" sz="2000" dirty="0"/>
          </a:p>
        </c:rich>
      </c:tx>
      <c:layout/>
      <c:spPr>
        <a:noFill/>
        <a:ln>
          <a:noFill/>
        </a:ln>
        <a:effectLst/>
      </c:spPr>
    </c:title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explosion val="9"/>
          <c:dPt>
            <c:idx val="0"/>
            <c:explosion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4FA2-48DF-9BFD-10559BBD2625}"/>
              </c:ext>
            </c:extLst>
          </c:dPt>
          <c:dPt>
            <c:idx val="1"/>
            <c:explosion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4FA2-48DF-9BFD-10559BBD2625}"/>
              </c:ext>
            </c:extLst>
          </c:dPt>
          <c:dPt>
            <c:idx val="2"/>
            <c:explosion val="8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4FA2-48DF-9BFD-10559BBD2625}"/>
              </c:ext>
            </c:extLst>
          </c:dPt>
          <c:dPt>
            <c:idx val="3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4FA2-48DF-9BFD-10559BBD2625}"/>
              </c:ext>
            </c:extLst>
          </c:dPt>
          <c:cat>
            <c:strRef>
              <c:f>Sheet1!$A$2:$A$5</c:f>
              <c:strCache>
                <c:ptCount val="4"/>
                <c:pt idx="0">
                  <c:v>Daily</c:v>
                </c:pt>
                <c:pt idx="1">
                  <c:v>Weekly</c:v>
                </c:pt>
                <c:pt idx="2">
                  <c:v>Monthly</c:v>
                </c:pt>
                <c:pt idx="3">
                  <c:v>Yearly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-2.5</c:v>
                </c:pt>
                <c:pt idx="1">
                  <c:v>3</c:v>
                </c:pt>
                <c:pt idx="2">
                  <c:v>0.5</c:v>
                </c:pt>
                <c:pt idx="3">
                  <c:v>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4FA2-48DF-9BFD-10559BBD2625}"/>
            </c:ext>
          </c:extLst>
        </c:ser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8887244941156548"/>
          <c:y val="0.82798934988895612"/>
          <c:w val="0.51634112268224541"/>
          <c:h val="0.15277988088027458"/>
        </c:manualLayout>
      </c:layout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dirty="0" smtClean="0"/>
              <a:t>How</a:t>
            </a:r>
            <a:r>
              <a:rPr lang="en-US" sz="2000" baseline="0" dirty="0" smtClean="0"/>
              <a:t> much would you pay for this product/service</a:t>
            </a:r>
            <a:r>
              <a:rPr lang="en-US" sz="2000" dirty="0" smtClean="0"/>
              <a:t>?</a:t>
            </a:r>
            <a:endParaRPr lang="en-US" sz="2000" dirty="0"/>
          </a:p>
        </c:rich>
      </c:tx>
      <c:layout/>
      <c:spPr>
        <a:noFill/>
        <a:ln>
          <a:noFill/>
        </a:ln>
        <a:effectLst/>
      </c:spPr>
    </c:title>
    <c:plotArea>
      <c:layout>
        <c:manualLayout>
          <c:layoutTarget val="inner"/>
          <c:xMode val="edge"/>
          <c:yMode val="edge"/>
          <c:x val="0.32621382554453421"/>
          <c:y val="0.2533553173948887"/>
          <c:w val="0.34324334458192723"/>
          <c:h val="0.52292967913223543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9418-4920-AEE3-165F2217CF5C}"/>
              </c:ext>
            </c:extLst>
          </c:dPt>
          <c:dPt>
            <c:idx val="1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9418-4920-AEE3-165F2217CF5C}"/>
              </c:ext>
            </c:extLst>
          </c:dPt>
          <c:dPt>
            <c:idx val="2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9418-4920-AEE3-165F2217CF5C}"/>
              </c:ext>
            </c:extLst>
          </c:dPt>
          <c:dPt>
            <c:idx val="3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9418-4920-AEE3-165F2217CF5C}"/>
              </c:ext>
            </c:extLst>
          </c:dPt>
          <c:cat>
            <c:strRef>
              <c:f>Sheet1!$A$2:$A$5</c:f>
              <c:strCache>
                <c:ptCount val="4"/>
                <c:pt idx="0">
                  <c:v>Under $100</c:v>
                </c:pt>
                <c:pt idx="1">
                  <c:v>$100 - $150</c:v>
                </c:pt>
                <c:pt idx="2">
                  <c:v>$150 - $200</c:v>
                </c:pt>
                <c:pt idx="3">
                  <c:v>Over $200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-2.5</c:v>
                </c:pt>
                <c:pt idx="1">
                  <c:v>1.5</c:v>
                </c:pt>
                <c:pt idx="2">
                  <c:v>2</c:v>
                </c:pt>
                <c:pt idx="3">
                  <c:v>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9418-4920-AEE3-165F2217CF5C}"/>
            </c:ext>
          </c:extLst>
        </c:ser>
        <c:firstSliceAng val="0"/>
      </c:pieChart>
      <c:spPr>
        <a:noFill/>
        <a:ln>
          <a:noFill/>
        </a:ln>
        <a:effectLst/>
      </c:spPr>
    </c:plotArea>
    <c:legend>
      <c:legendPos val="b"/>
      <c:layout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Age</a:t>
            </a:r>
            <a:endParaRPr lang="en-US" dirty="0"/>
          </a:p>
        </c:rich>
      </c:tx>
      <c:layout/>
      <c:spPr>
        <a:noFill/>
        <a:ln>
          <a:noFill/>
        </a:ln>
        <a:effectLst/>
      </c:spPr>
    </c:title>
    <c:plotArea>
      <c:layout/>
      <c:pieChart>
        <c:varyColors val="1"/>
        <c:firstSliceAng val="0"/>
      </c:pieChart>
      <c:spPr>
        <a:noFill/>
        <a:ln>
          <a:noFill/>
        </a:ln>
        <a:effectLst/>
      </c:spPr>
    </c:plotArea>
    <c:legend>
      <c:legendPos val="b"/>
      <c:layout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Age</a:t>
            </a:r>
            <a:endParaRPr lang="en-US" dirty="0"/>
          </a:p>
        </c:rich>
      </c:tx>
      <c:layout/>
      <c:spPr>
        <a:noFill/>
        <a:ln>
          <a:noFill/>
        </a:ln>
        <a:effectLst/>
      </c:spPr>
    </c:title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explosion val="4"/>
          <c:dPt>
            <c:idx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0AC0-4FE4-A0CE-0E3FFE9EDB0B}"/>
              </c:ext>
            </c:extLst>
          </c:dPt>
          <c:dPt>
            <c:idx val="1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0AC0-4FE4-A0CE-0E3FFE9EDB0B}"/>
              </c:ext>
            </c:extLst>
          </c:dPt>
          <c:dPt>
            <c:idx val="2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0AC0-4FE4-A0CE-0E3FFE9EDB0B}"/>
              </c:ext>
            </c:extLst>
          </c:dPt>
          <c:dPt>
            <c:idx val="3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0AC0-4FE4-A0CE-0E3FFE9EDB0B}"/>
              </c:ext>
            </c:extLst>
          </c:dPt>
          <c:dPt>
            <c:idx val="4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0AC0-4FE4-A0CE-0E3FFE9EDB0B}"/>
              </c:ext>
            </c:extLst>
          </c:dPt>
          <c:cat>
            <c:strRef>
              <c:f>Sheet1!$A$2:$A$6</c:f>
              <c:strCache>
                <c:ptCount val="5"/>
                <c:pt idx="0">
                  <c:v>Under 20</c:v>
                </c:pt>
                <c:pt idx="1">
                  <c:v>20 - 30</c:v>
                </c:pt>
                <c:pt idx="2">
                  <c:v>31- 45</c:v>
                </c:pt>
                <c:pt idx="3">
                  <c:v>46 - 60</c:v>
                </c:pt>
                <c:pt idx="4">
                  <c:v>Over 60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</c:v>
                </c:pt>
                <c:pt idx="1">
                  <c:v>20</c:v>
                </c:pt>
                <c:pt idx="2">
                  <c:v>12</c:v>
                </c:pt>
                <c:pt idx="3">
                  <c:v>5</c:v>
                </c:pt>
                <c:pt idx="4">
                  <c:v>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A-0AC0-4FE4-A0CE-0E3FFE9EDB0B}"/>
            </c:ext>
          </c:extLst>
        </c:ser>
        <c:firstSliceAng val="0"/>
      </c:pieChart>
      <c:spPr>
        <a:noFill/>
        <a:ln>
          <a:noFill/>
        </a:ln>
        <a:effectLst/>
      </c:spPr>
    </c:plotArea>
    <c:legend>
      <c:legendPos val="b"/>
      <c:layout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/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2497164" y="6055995"/>
            <a:ext cx="36758253" cy="8074660"/>
          </a:xfrm>
          <a:ln>
            <a:noFill/>
          </a:ln>
        </p:spPr>
        <p:txBody>
          <a:bodyPr vert="horz" tIns="0" rIns="83529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2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2497164" y="14254883"/>
            <a:ext cx="36772523" cy="7738216"/>
          </a:xfrm>
        </p:spPr>
        <p:txBody>
          <a:bodyPr lIns="0" rIns="83529"/>
          <a:lstStyle>
            <a:lvl1pPr marL="0" marR="208822" indent="0" algn="r">
              <a:buNone/>
              <a:defRPr>
                <a:solidFill>
                  <a:schemeClr val="tx1"/>
                </a:solidFill>
              </a:defRPr>
            </a:lvl1pPr>
            <a:lvl2pPr marL="2088215" indent="0" algn="ctr">
              <a:buNone/>
            </a:lvl2pPr>
            <a:lvl3pPr marL="4176431" indent="0" algn="ctr">
              <a:buNone/>
            </a:lvl3pPr>
            <a:lvl4pPr marL="6264646" indent="0" algn="ctr">
              <a:buNone/>
            </a:lvl4pPr>
            <a:lvl5pPr marL="8352861" indent="0" algn="ctr">
              <a:buNone/>
            </a:lvl5pPr>
            <a:lvl6pPr marL="10441076" indent="0" algn="ctr">
              <a:buNone/>
            </a:lvl6pPr>
            <a:lvl7pPr marL="12529292" indent="0" algn="ctr">
              <a:buNone/>
            </a:lvl7pPr>
            <a:lvl8pPr marL="14617507" indent="0" algn="ctr">
              <a:buNone/>
            </a:lvl8pPr>
            <a:lvl9pPr marL="16705722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5/21/2019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2895" y="5813755"/>
            <a:ext cx="36387246" cy="6015622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2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2895" y="11941843"/>
            <a:ext cx="36387246" cy="6665798"/>
          </a:xfrm>
        </p:spPr>
        <p:txBody>
          <a:bodyPr lIns="208822" rIns="208822" anchor="t"/>
          <a:lstStyle>
            <a:lvl1pPr marL="0" indent="0">
              <a:buNone/>
              <a:defRPr sz="10000">
                <a:solidFill>
                  <a:schemeClr val="tx1"/>
                </a:solidFill>
              </a:defRPr>
            </a:lvl1pPr>
            <a:lvl2pPr>
              <a:buNone/>
              <a:defRPr sz="82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73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0426" y="3108744"/>
            <a:ext cx="38527673" cy="5046663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40426" y="8477708"/>
            <a:ext cx="18907099" cy="19581051"/>
          </a:xfrm>
        </p:spPr>
        <p:txBody>
          <a:bodyPr/>
          <a:lstStyle>
            <a:lvl1pPr>
              <a:defRPr sz="11900"/>
            </a:lvl1pPr>
            <a:lvl2pPr>
              <a:defRPr sz="11000"/>
            </a:lvl2pPr>
            <a:lvl3pPr>
              <a:defRPr sz="9100"/>
            </a:lvl3pPr>
            <a:lvl4pPr>
              <a:defRPr sz="8200"/>
            </a:lvl4pPr>
            <a:lvl5pPr>
              <a:defRPr sz="82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761000" y="8477708"/>
            <a:ext cx="18907099" cy="19581051"/>
          </a:xfrm>
        </p:spPr>
        <p:txBody>
          <a:bodyPr/>
          <a:lstStyle>
            <a:lvl1pPr>
              <a:defRPr sz="11900"/>
            </a:lvl1pPr>
            <a:lvl2pPr>
              <a:defRPr sz="11000"/>
            </a:lvl2pPr>
            <a:lvl3pPr>
              <a:defRPr sz="9100"/>
            </a:lvl3pPr>
            <a:lvl4pPr>
              <a:defRPr sz="8200"/>
            </a:lvl4pPr>
            <a:lvl5pPr>
              <a:defRPr sz="82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0426" y="3108744"/>
            <a:ext cx="38527673" cy="5046663"/>
          </a:xfrm>
        </p:spPr>
        <p:txBody>
          <a:bodyPr tIns="208822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40426" y="8191435"/>
            <a:ext cx="18914533" cy="2911222"/>
          </a:xfrm>
        </p:spPr>
        <p:txBody>
          <a:bodyPr lIns="208822" tIns="0" rIns="208822" bIns="0" anchor="ctr">
            <a:noAutofit/>
          </a:bodyPr>
          <a:lstStyle>
            <a:lvl1pPr marL="0" indent="0">
              <a:buNone/>
              <a:defRPr sz="110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9100" b="1"/>
            </a:lvl2pPr>
            <a:lvl3pPr>
              <a:buNone/>
              <a:defRPr sz="8200" b="1"/>
            </a:lvl3pPr>
            <a:lvl4pPr>
              <a:buNone/>
              <a:defRPr sz="7300" b="1"/>
            </a:lvl4pPr>
            <a:lvl5pPr>
              <a:buNone/>
              <a:defRPr sz="73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21746138" y="8211346"/>
            <a:ext cx="18921963" cy="2891314"/>
          </a:xfrm>
        </p:spPr>
        <p:txBody>
          <a:bodyPr lIns="208822" tIns="0" rIns="208822" bIns="0" anchor="ctr"/>
          <a:lstStyle>
            <a:lvl1pPr marL="0" indent="0">
              <a:buNone/>
              <a:defRPr sz="110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9100" b="1"/>
            </a:lvl2pPr>
            <a:lvl3pPr>
              <a:buNone/>
              <a:defRPr sz="8200" b="1"/>
            </a:lvl3pPr>
            <a:lvl4pPr>
              <a:buNone/>
              <a:defRPr sz="7300" b="1"/>
            </a:lvl4pPr>
            <a:lvl5pPr>
              <a:buNone/>
              <a:defRPr sz="73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2140426" y="11102658"/>
            <a:ext cx="18914533" cy="16979922"/>
          </a:xfrm>
        </p:spPr>
        <p:txBody>
          <a:bodyPr tIns="0"/>
          <a:lstStyle>
            <a:lvl1pPr>
              <a:defRPr sz="10000"/>
            </a:lvl1pPr>
            <a:lvl2pPr>
              <a:defRPr sz="9100"/>
            </a:lvl2pPr>
            <a:lvl3pPr>
              <a:defRPr sz="8200"/>
            </a:lvl3pPr>
            <a:lvl4pPr>
              <a:defRPr sz="7300"/>
            </a:lvl4pPr>
            <a:lvl5pPr>
              <a:defRPr sz="73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746138" y="11102658"/>
            <a:ext cx="18921963" cy="16979922"/>
          </a:xfrm>
        </p:spPr>
        <p:txBody>
          <a:bodyPr tIns="0"/>
          <a:lstStyle>
            <a:lvl1pPr>
              <a:defRPr sz="10000"/>
            </a:lvl1pPr>
            <a:lvl2pPr>
              <a:defRPr sz="9100"/>
            </a:lvl2pPr>
            <a:lvl3pPr>
              <a:defRPr sz="8200"/>
            </a:lvl3pPr>
            <a:lvl4pPr>
              <a:defRPr sz="7300"/>
            </a:lvl4pPr>
            <a:lvl5pPr>
              <a:defRPr sz="73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0426" y="3108744"/>
            <a:ext cx="38884410" cy="5046663"/>
          </a:xfrm>
        </p:spPr>
        <p:txBody>
          <a:bodyPr vert="horz" tIns="208822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228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0639" y="2271007"/>
            <a:ext cx="12842558" cy="5130774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119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210639" y="7401772"/>
            <a:ext cx="12842558" cy="20186650"/>
          </a:xfrm>
        </p:spPr>
        <p:txBody>
          <a:bodyPr lIns="83529" rIns="83529"/>
          <a:lstStyle>
            <a:lvl1pPr marL="0" indent="0" algn="l">
              <a:buNone/>
              <a:defRPr sz="6400"/>
            </a:lvl1pPr>
            <a:lvl2pPr indent="0" algn="l">
              <a:buNone/>
              <a:defRPr sz="5500"/>
            </a:lvl2pPr>
            <a:lvl3pPr indent="0" algn="l">
              <a:buNone/>
              <a:defRPr sz="4600"/>
            </a:lvl3pPr>
            <a:lvl4pPr indent="0" algn="l">
              <a:buNone/>
              <a:defRPr sz="4100"/>
            </a:lvl4pPr>
            <a:lvl5pPr indent="0" algn="l">
              <a:buNone/>
              <a:defRPr sz="41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6736944" y="7401772"/>
            <a:ext cx="23931155" cy="20186650"/>
          </a:xfrm>
        </p:spPr>
        <p:txBody>
          <a:bodyPr tIns="0"/>
          <a:lstStyle>
            <a:lvl1pPr>
              <a:defRPr sz="12800"/>
            </a:lvl1pPr>
            <a:lvl2pPr>
              <a:defRPr sz="11900"/>
            </a:lvl2pPr>
            <a:lvl3pPr>
              <a:defRPr sz="11000"/>
            </a:lvl3pPr>
            <a:lvl4pPr>
              <a:defRPr sz="9100"/>
            </a:lvl4pPr>
            <a:lvl5pPr>
              <a:defRPr sz="82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14820780" y="4892468"/>
            <a:ext cx="24614902" cy="18167985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7643" tIns="208822" rIns="417643" bIns="208822"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37472131" y="23664869"/>
            <a:ext cx="727745" cy="686346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7643" tIns="208822" rIns="417643" bIns="208822"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3902" y="5196767"/>
            <a:ext cx="10359663" cy="6987711"/>
          </a:xfrm>
        </p:spPr>
        <p:txBody>
          <a:bodyPr vert="horz" lIns="208822" tIns="208822" rIns="208822" bIns="208822" anchor="b"/>
          <a:lstStyle>
            <a:lvl1pPr algn="l">
              <a:buNone/>
              <a:defRPr sz="91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3901" y="12489872"/>
            <a:ext cx="10345394" cy="9622303"/>
          </a:xfrm>
        </p:spPr>
        <p:txBody>
          <a:bodyPr lIns="292350" rIns="208822" bIns="208822" anchor="t"/>
          <a:lstStyle>
            <a:lvl1pPr marL="0" indent="0" algn="l">
              <a:spcBef>
                <a:spcPts val="1142"/>
              </a:spcBef>
              <a:buFontTx/>
              <a:buNone/>
              <a:defRPr sz="5900"/>
            </a:lvl1pPr>
            <a:lvl2pPr>
              <a:defRPr sz="5500"/>
            </a:lvl2pPr>
            <a:lvl3pPr>
              <a:defRPr sz="4600"/>
            </a:lvl3pPr>
            <a:lvl4pPr>
              <a:defRPr sz="4100"/>
            </a:lvl4pPr>
            <a:lvl5pPr>
              <a:defRPr sz="41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7814197" y="28065053"/>
            <a:ext cx="2853902" cy="161212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16319079" y="5296201"/>
            <a:ext cx="21618305" cy="17360519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146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44592" y="25681905"/>
            <a:ext cx="42897709" cy="459807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17643" tIns="208822" rIns="417643" bIns="208822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20512418" y="27462257"/>
            <a:ext cx="22296107" cy="2817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17643" tIns="208822" rIns="417643" bIns="208822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036181" y="4037337"/>
            <a:ext cx="9631918" cy="23011381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40426" y="4037337"/>
            <a:ext cx="28182279" cy="23011381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44592" y="-31543"/>
            <a:ext cx="42897709" cy="459807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17643" tIns="208822" rIns="417643" bIns="208822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20512418" y="-31541"/>
            <a:ext cx="22296107" cy="2817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17643" tIns="208822" rIns="417643" bIns="208822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2140426" y="3108744"/>
            <a:ext cx="38527673" cy="5046663"/>
          </a:xfrm>
          <a:prstGeom prst="rect">
            <a:avLst/>
          </a:prstGeom>
        </p:spPr>
        <p:txBody>
          <a:bodyPr vert="horz" lIns="0" tIns="208822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2140426" y="8545682"/>
            <a:ext cx="38527673" cy="19379184"/>
          </a:xfrm>
          <a:prstGeom prst="rect">
            <a:avLst/>
          </a:prstGeom>
        </p:spPr>
        <p:txBody>
          <a:bodyPr vert="horz" lIns="417643" tIns="208822" rIns="417643" bIns="208822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2140426" y="28065053"/>
            <a:ext cx="9988656" cy="1612128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55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5/21/2019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12485820" y="28065053"/>
            <a:ext cx="15696459" cy="1612128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55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37100722" y="28065053"/>
            <a:ext cx="3567377" cy="1612128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55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89030" y="893688"/>
            <a:ext cx="42979628" cy="286650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l" rtl="0" eaLnBrk="1" latinLnBrk="0" hangingPunct="1">
        <a:spcBef>
          <a:spcPct val="0"/>
        </a:spcBef>
        <a:buNone/>
        <a:defRPr kumimoji="0" sz="228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1252929" indent="-1252929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11900" kern="1200">
          <a:solidFill>
            <a:schemeClr val="tx1"/>
          </a:solidFill>
          <a:latin typeface="+mn-lt"/>
          <a:ea typeface="+mn-ea"/>
          <a:cs typeface="+mn-cs"/>
        </a:defRPr>
      </a:lvl1pPr>
      <a:lvl2pPr marL="2923501" indent="-1127636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11000" kern="1200">
          <a:solidFill>
            <a:schemeClr val="tx1"/>
          </a:solidFill>
          <a:latin typeface="+mn-lt"/>
          <a:ea typeface="+mn-ea"/>
          <a:cs typeface="+mn-cs"/>
        </a:defRPr>
      </a:lvl2pPr>
      <a:lvl3pPr marL="4176431" indent="-1127636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5429360" indent="-960579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9100" kern="1200">
          <a:solidFill>
            <a:schemeClr val="tx1"/>
          </a:solidFill>
          <a:latin typeface="+mn-lt"/>
          <a:ea typeface="+mn-ea"/>
          <a:cs typeface="+mn-cs"/>
        </a:defRPr>
      </a:lvl4pPr>
      <a:lvl5pPr marL="6682289" indent="-960579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9100" kern="1200">
          <a:solidFill>
            <a:schemeClr val="tx1"/>
          </a:solidFill>
          <a:latin typeface="+mn-lt"/>
          <a:ea typeface="+mn-ea"/>
          <a:cs typeface="+mn-cs"/>
        </a:defRPr>
      </a:lvl5pPr>
      <a:lvl6pPr marL="7935218" indent="-960579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8200" kern="1200">
          <a:solidFill>
            <a:schemeClr val="tx1"/>
          </a:solidFill>
          <a:latin typeface="+mn-lt"/>
          <a:ea typeface="+mn-ea"/>
          <a:cs typeface="+mn-cs"/>
        </a:defRPr>
      </a:lvl6pPr>
      <a:lvl7pPr marL="8770504" indent="-835286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73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0023433" indent="-835286" algn="l" rtl="0" eaLnBrk="1" latinLnBrk="0" hangingPunct="1">
        <a:spcBef>
          <a:spcPct val="20000"/>
        </a:spcBef>
        <a:buClr>
          <a:schemeClr val="tx2"/>
        </a:buClr>
        <a:buChar char="•"/>
        <a:defRPr kumimoji="0" sz="7300" kern="1200">
          <a:solidFill>
            <a:schemeClr val="tx1"/>
          </a:solidFill>
          <a:latin typeface="+mn-lt"/>
          <a:ea typeface="+mn-ea"/>
          <a:cs typeface="+mn-cs"/>
        </a:defRPr>
      </a:lvl8pPr>
      <a:lvl9pPr marL="11276363" indent="-835286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6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208821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417643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626464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835286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044107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1252929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1461750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1670572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chart" Target="../charts/chart3.xml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12" Type="http://schemas.openxmlformats.org/officeDocument/2006/relationships/chart" Target="../charts/chart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chart" Target="../charts/chart1.xml"/><Relationship Id="rId5" Type="http://schemas.openxmlformats.org/officeDocument/2006/relationships/image" Target="../media/image5.png"/><Relationship Id="rId15" Type="http://schemas.openxmlformats.org/officeDocument/2006/relationships/image" Target="../media/image11.png"/><Relationship Id="rId10" Type="http://schemas.openxmlformats.org/officeDocument/2006/relationships/image" Target="../media/image10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Relationship Id="rId14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1996065" y="280988"/>
            <a:ext cx="10812462" cy="1985141"/>
          </a:xfrm>
          <a:prstGeom prst="rect">
            <a:avLst/>
          </a:prstGeom>
          <a:noFill/>
        </p:spPr>
        <p:txBody>
          <a:bodyPr wrap="square" lIns="91421" tIns="45711" rIns="91421" bIns="45711" rtlCol="0">
            <a:spAutoFit/>
          </a:bodyPr>
          <a:lstStyle/>
          <a:p>
            <a:r>
              <a:rPr lang="en-US" sz="4100" dirty="0" smtClean="0"/>
              <a:t>Ahmed Amr</a:t>
            </a:r>
          </a:p>
          <a:p>
            <a:r>
              <a:rPr lang="en-US" sz="4100" dirty="0" err="1" smtClean="0"/>
              <a:t>Philopatear Salib</a:t>
            </a:r>
          </a:p>
          <a:p>
            <a:r>
              <a:rPr lang="en-US" sz="4100" dirty="0" err="1" smtClean="0"/>
              <a:t>Nourhan Ayman</a:t>
            </a:r>
            <a:endParaRPr lang="en-US" sz="4100" dirty="0"/>
          </a:p>
        </p:txBody>
      </p:sp>
      <p:sp>
        <p:nvSpPr>
          <p:cNvPr id="7" name="Rounded Rectangle 6"/>
          <p:cNvSpPr/>
          <p:nvPr/>
        </p:nvSpPr>
        <p:spPr>
          <a:xfrm>
            <a:off x="11726862" y="5386387"/>
            <a:ext cx="9677400" cy="2286001"/>
          </a:xfrm>
          <a:prstGeom prst="roundRect">
            <a:avLst/>
          </a:prstGeom>
          <a:solidFill>
            <a:schemeClr val="tx1"/>
          </a:solidFill>
          <a:ln w="76200"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21" tIns="45711" rIns="91421" bIns="45711"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726862" y="5462590"/>
            <a:ext cx="9601202" cy="2062103"/>
          </a:xfrm>
          <a:prstGeom prst="rect">
            <a:avLst/>
          </a:prstGeom>
          <a:noFill/>
        </p:spPr>
        <p:txBody>
          <a:bodyPr wrap="square" lIns="91421" tIns="45711" rIns="91421" bIns="45711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 Our projects goal was  to offer daily caring routines to medium sized swimming pools , owned by 30-50 year old males or females , in a villa or a compound.  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1803064" y="9120191"/>
            <a:ext cx="9677400" cy="320040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21" tIns="45711" rIns="91421" bIns="45711"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1803059" y="9196388"/>
            <a:ext cx="9601202" cy="2554527"/>
          </a:xfrm>
          <a:prstGeom prst="rect">
            <a:avLst/>
          </a:prstGeom>
          <a:noFill/>
        </p:spPr>
        <p:txBody>
          <a:bodyPr wrap="square" lIns="91421" tIns="45711" rIns="91421" bIns="45711" rtlCol="0">
            <a:spAutoFit/>
          </a:bodyPr>
          <a:lstStyle/>
          <a:p>
            <a:r>
              <a:rPr lang="en-US" sz="3200" b="1" u="sng" dirty="0" smtClean="0">
                <a:solidFill>
                  <a:schemeClr val="bg1"/>
                </a:solidFill>
              </a:rPr>
              <a:t> </a:t>
            </a:r>
            <a:r>
              <a:rPr lang="en-US" sz="3200" dirty="0" smtClean="0">
                <a:solidFill>
                  <a:schemeClr val="bg1"/>
                </a:solidFill>
              </a:rPr>
              <a:t>Our main goal was to clean any medium sized pool , in the most efficient way . And still maintaining privacy and safety. Our robot works autonomously , with a really simple user interface that requires no effort and has no complexity. 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1081662" y="4776787"/>
            <a:ext cx="9296400" cy="120396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1" tIns="45711" rIns="91421" bIns="45711"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2072262" y="3481387"/>
            <a:ext cx="8153399" cy="1354219"/>
          </a:xfrm>
          <a:prstGeom prst="rect">
            <a:avLst/>
          </a:prstGeom>
          <a:noFill/>
        </p:spPr>
        <p:txBody>
          <a:bodyPr wrap="square" lIns="91421" tIns="45711" rIns="91421" bIns="45711" rtlCol="0">
            <a:spAutoFit/>
          </a:bodyPr>
          <a:lstStyle/>
          <a:p>
            <a:r>
              <a:rPr lang="en-US" b="1" dirty="0" smtClean="0"/>
              <a:t>Product design</a:t>
            </a:r>
            <a:endParaRPr lang="en-US" b="1" dirty="0"/>
          </a:p>
        </p:txBody>
      </p:sp>
      <p:pic>
        <p:nvPicPr>
          <p:cNvPr id="14" name="Picture 13" descr="1.PNG"/>
          <p:cNvPicPr>
            <a:picLocks noChangeAspect="1"/>
          </p:cNvPicPr>
          <p:nvPr/>
        </p:nvPicPr>
        <p:blipFill>
          <a:blip r:embed="rId2"/>
          <a:srcRect l="18750" t="9968" r="15179" b="15268"/>
          <a:stretch>
            <a:fillRect/>
          </a:stretch>
        </p:blipFill>
        <p:spPr>
          <a:xfrm>
            <a:off x="31386461" y="5462586"/>
            <a:ext cx="8839201" cy="544692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5" name="Picture 14" descr="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0262" y="10796587"/>
            <a:ext cx="8915400" cy="535303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7" name="Picture 16" descr="Flow Chart - Autonomo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8662" y="21159787"/>
            <a:ext cx="10413370" cy="7450446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8" name="TextBox 17"/>
          <p:cNvSpPr txBox="1"/>
          <p:nvPr/>
        </p:nvSpPr>
        <p:spPr>
          <a:xfrm>
            <a:off x="11879262" y="20092987"/>
            <a:ext cx="11269663" cy="2323695"/>
          </a:xfrm>
          <a:prstGeom prst="rect">
            <a:avLst/>
          </a:prstGeom>
          <a:noFill/>
        </p:spPr>
        <p:txBody>
          <a:bodyPr wrap="square" lIns="91421" tIns="45711" rIns="91421" bIns="45711" rtlCol="0">
            <a:spAutoFit/>
          </a:bodyPr>
          <a:lstStyle/>
          <a:p>
            <a:r>
              <a:rPr lang="en-US" sz="7200" b="1" dirty="0" smtClean="0"/>
              <a:t>E</a:t>
            </a:r>
            <a:r>
              <a:rPr lang="en-US" sz="7200" b="1" dirty="0" smtClean="0"/>
              <a:t>lectrical </a:t>
            </a:r>
            <a:r>
              <a:rPr lang="en-US" sz="7200" b="1" dirty="0" smtClean="0"/>
              <a:t>aspects</a:t>
            </a:r>
          </a:p>
          <a:p>
            <a:endParaRPr lang="en-US" sz="7300" dirty="0"/>
          </a:p>
        </p:txBody>
      </p:sp>
      <p:pic>
        <p:nvPicPr>
          <p:cNvPr id="19" name="Picture 18" descr="MotherBoard (1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32862" y="20239054"/>
            <a:ext cx="7162800" cy="10040921"/>
          </a:xfrm>
          <a:prstGeom prst="rect">
            <a:avLst/>
          </a:prstGeom>
          <a:ln w="5715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20" name="Picture 19" descr="sld 2 (6)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5062" y="21159787"/>
            <a:ext cx="9372600" cy="7467600"/>
          </a:xfrm>
          <a:prstGeom prst="rect">
            <a:avLst/>
          </a:prstGeom>
          <a:ln w="5715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1" name="TextBox 20"/>
          <p:cNvSpPr txBox="1"/>
          <p:nvPr/>
        </p:nvSpPr>
        <p:spPr>
          <a:xfrm>
            <a:off x="12260262" y="4014787"/>
            <a:ext cx="4952999" cy="1354219"/>
          </a:xfrm>
          <a:prstGeom prst="rect">
            <a:avLst/>
          </a:prstGeom>
          <a:noFill/>
        </p:spPr>
        <p:txBody>
          <a:bodyPr wrap="square" lIns="91421" tIns="45711" rIns="91421" bIns="45711" rtlCol="0">
            <a:spAutoFit/>
          </a:bodyPr>
          <a:lstStyle/>
          <a:p>
            <a:r>
              <a:rPr lang="en-US" b="1" dirty="0" smtClean="0"/>
              <a:t>A</a:t>
            </a:r>
            <a:r>
              <a:rPr lang="en-US" b="1" dirty="0" smtClean="0"/>
              <a:t>bstract</a:t>
            </a:r>
            <a:endParaRPr lang="en-US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12184059" y="7672388"/>
            <a:ext cx="6705602" cy="1354219"/>
          </a:xfrm>
          <a:prstGeom prst="rect">
            <a:avLst/>
          </a:prstGeom>
          <a:noFill/>
        </p:spPr>
        <p:txBody>
          <a:bodyPr wrap="square" lIns="91421" tIns="45711" rIns="91421" bIns="45711" rtlCol="0">
            <a:spAutoFit/>
          </a:bodyPr>
          <a:lstStyle/>
          <a:p>
            <a:r>
              <a:rPr lang="en-US" b="1" dirty="0" smtClean="0"/>
              <a:t>Function</a:t>
            </a:r>
            <a:endParaRPr lang="en-US" b="1" dirty="0"/>
          </a:p>
        </p:txBody>
      </p:sp>
      <p:pic>
        <p:nvPicPr>
          <p:cNvPr id="24" name="Picture 23" descr="timepl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12462" y="13539787"/>
            <a:ext cx="19310429" cy="4800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5" name="TextBox 24"/>
          <p:cNvSpPr txBox="1"/>
          <p:nvPr/>
        </p:nvSpPr>
        <p:spPr>
          <a:xfrm>
            <a:off x="14774862" y="12244387"/>
            <a:ext cx="9829800" cy="1354219"/>
          </a:xfrm>
          <a:prstGeom prst="rect">
            <a:avLst/>
          </a:prstGeom>
          <a:noFill/>
        </p:spPr>
        <p:txBody>
          <a:bodyPr wrap="square" lIns="91421" tIns="45711" rIns="91421" bIns="45711" rtlCol="0">
            <a:spAutoFit/>
          </a:bodyPr>
          <a:lstStyle/>
          <a:p>
            <a:r>
              <a:rPr lang="en-US" b="1" dirty="0" smtClean="0"/>
              <a:t>Project timeline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1835727" y="17121187"/>
            <a:ext cx="10972798" cy="2616101"/>
          </a:xfrm>
          <a:prstGeom prst="rect">
            <a:avLst/>
          </a:prstGeom>
          <a:noFill/>
        </p:spPr>
        <p:txBody>
          <a:bodyPr wrap="square" lIns="91421" tIns="45711" rIns="91421" bIns="45711" rtlCol="0">
            <a:spAutoFit/>
          </a:bodyPr>
          <a:lstStyle/>
          <a:p>
            <a:r>
              <a:rPr lang="en-US" b="1" dirty="0" smtClean="0"/>
              <a:t>Specs and features</a:t>
            </a:r>
          </a:p>
          <a:p>
            <a:endParaRPr lang="en-US" dirty="0"/>
          </a:p>
        </p:txBody>
      </p:sp>
      <p:sp>
        <p:nvSpPr>
          <p:cNvPr id="27" name="Rounded Rectangle 26"/>
          <p:cNvSpPr/>
          <p:nvPr/>
        </p:nvSpPr>
        <p:spPr>
          <a:xfrm>
            <a:off x="31767462" y="18340387"/>
            <a:ext cx="9296402" cy="281940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1" tIns="45711" rIns="91421" bIns="45711"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31843662" y="18416587"/>
            <a:ext cx="8991602" cy="3046970"/>
          </a:xfrm>
          <a:prstGeom prst="rect">
            <a:avLst/>
          </a:prstGeom>
          <a:noFill/>
        </p:spPr>
        <p:txBody>
          <a:bodyPr wrap="square" lIns="91421" tIns="45711" rIns="91421" bIns="45711" rtlCol="0">
            <a:spAutoFit/>
          </a:bodyPr>
          <a:lstStyle/>
          <a:p>
            <a:pPr>
              <a:buFontTx/>
              <a:buChar char="-"/>
            </a:pPr>
            <a:r>
              <a:rPr lang="en-US" sz="3200" dirty="0" smtClean="0">
                <a:solidFill>
                  <a:schemeClr val="bg1"/>
                </a:solidFill>
              </a:rPr>
              <a:t> Easy to install </a:t>
            </a:r>
          </a:p>
          <a:p>
            <a:pPr>
              <a:buFontTx/>
              <a:buChar char="-"/>
            </a:pPr>
            <a:r>
              <a:rPr lang="en-US" sz="3200" dirty="0" smtClean="0">
                <a:solidFill>
                  <a:schemeClr val="bg1"/>
                </a:solidFill>
              </a:rPr>
              <a:t> Compact </a:t>
            </a:r>
          </a:p>
          <a:p>
            <a:pPr>
              <a:buFontTx/>
              <a:buChar char="-"/>
            </a:pPr>
            <a:r>
              <a:rPr lang="en-US" sz="3200" dirty="0" smtClean="0">
                <a:solidFill>
                  <a:schemeClr val="bg1"/>
                </a:solidFill>
              </a:rPr>
              <a:t> Low time consumption cleaning </a:t>
            </a:r>
          </a:p>
          <a:p>
            <a:pPr>
              <a:buFontTx/>
              <a:buChar char="-"/>
            </a:pPr>
            <a:r>
              <a:rPr lang="en-US" sz="3200" dirty="0" smtClean="0">
                <a:solidFill>
                  <a:schemeClr val="bg1"/>
                </a:solidFill>
              </a:rPr>
              <a:t> Low maintenance  time </a:t>
            </a:r>
          </a:p>
          <a:p>
            <a:pPr>
              <a:buFontTx/>
              <a:buChar char="-"/>
            </a:pPr>
            <a:r>
              <a:rPr lang="en-US" sz="3200" dirty="0" smtClean="0">
                <a:solidFill>
                  <a:schemeClr val="bg1"/>
                </a:solidFill>
              </a:rPr>
              <a:t> Very simple user interface</a:t>
            </a:r>
          </a:p>
          <a:p>
            <a:pPr>
              <a:buFontTx/>
              <a:buChar char="-"/>
            </a:pPr>
            <a:endParaRPr lang="en-US" sz="3200" dirty="0" smtClean="0">
              <a:solidFill>
                <a:schemeClr val="bg1"/>
              </a:solidFill>
            </a:endParaRPr>
          </a:p>
        </p:txBody>
      </p:sp>
      <p:pic>
        <p:nvPicPr>
          <p:cNvPr id="32" name="Picture 31" descr="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91828" y="0"/>
            <a:ext cx="3354706" cy="279558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3" name="TextBox 32"/>
          <p:cNvSpPr txBox="1"/>
          <p:nvPr/>
        </p:nvSpPr>
        <p:spPr>
          <a:xfrm>
            <a:off x="12412662" y="966787"/>
            <a:ext cx="97536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0" i="1" dirty="0" err="1" smtClean="0">
                <a:latin typeface="Arial Black" pitchFamily="34" charset="0"/>
              </a:rPr>
              <a:t>PCleaner</a:t>
            </a:r>
            <a:endParaRPr lang="en-US" sz="15000" i="1" dirty="0">
              <a:latin typeface="Arial Black" pitchFamily="34" charset="0"/>
            </a:endParaRPr>
          </a:p>
        </p:txBody>
      </p:sp>
      <p:pic>
        <p:nvPicPr>
          <p:cNvPr id="35" name="Picture 34" descr="the-value-proposition-canvas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373062" y="6376987"/>
            <a:ext cx="10098350" cy="60198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6" name="Picture 35" descr="Tool_24_leancanvas.jp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449262" y="13844587"/>
            <a:ext cx="9372600" cy="61933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7" name="TextBox 36"/>
          <p:cNvSpPr txBox="1"/>
          <p:nvPr/>
        </p:nvSpPr>
        <p:spPr>
          <a:xfrm>
            <a:off x="2506662" y="12472987"/>
            <a:ext cx="8610600" cy="584757"/>
          </a:xfrm>
          <a:prstGeom prst="rect">
            <a:avLst/>
          </a:prstGeom>
          <a:noFill/>
        </p:spPr>
        <p:txBody>
          <a:bodyPr wrap="square" lIns="91421" tIns="45711" rIns="91421" bIns="45711" rtlCol="0">
            <a:spAutoFit/>
          </a:bodyPr>
          <a:lstStyle/>
          <a:p>
            <a:r>
              <a:rPr lang="en-US" sz="3200" dirty="0" smtClean="0"/>
              <a:t>Business </a:t>
            </a:r>
            <a:r>
              <a:rPr lang="en-US" sz="3200" dirty="0" smtClean="0"/>
              <a:t>M</a:t>
            </a:r>
            <a:r>
              <a:rPr lang="en-US" sz="3200" dirty="0" smtClean="0"/>
              <a:t>odel Canvas</a:t>
            </a:r>
            <a:endParaRPr lang="en-US" sz="3200" dirty="0"/>
          </a:p>
        </p:txBody>
      </p:sp>
      <p:sp>
        <p:nvSpPr>
          <p:cNvPr id="38" name="TextBox 37"/>
          <p:cNvSpPr txBox="1"/>
          <p:nvPr/>
        </p:nvSpPr>
        <p:spPr>
          <a:xfrm>
            <a:off x="2963862" y="20092987"/>
            <a:ext cx="6172200" cy="584757"/>
          </a:xfrm>
          <a:prstGeom prst="rect">
            <a:avLst/>
          </a:prstGeom>
          <a:noFill/>
        </p:spPr>
        <p:txBody>
          <a:bodyPr wrap="square" lIns="91421" tIns="45711" rIns="91421" bIns="45711" rtlCol="0">
            <a:spAutoFit/>
          </a:bodyPr>
          <a:lstStyle/>
          <a:p>
            <a:r>
              <a:rPr lang="en-US" sz="3200" b="1" dirty="0" smtClean="0"/>
              <a:t>Lean M</a:t>
            </a:r>
            <a:r>
              <a:rPr lang="en-US" sz="3200" b="1" dirty="0" smtClean="0"/>
              <a:t>odel Canvas</a:t>
            </a:r>
            <a:endParaRPr lang="en-US" sz="3200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0" y="4929187"/>
            <a:ext cx="10820400" cy="1200310"/>
          </a:xfrm>
          <a:prstGeom prst="rect">
            <a:avLst/>
          </a:prstGeom>
          <a:noFill/>
        </p:spPr>
        <p:txBody>
          <a:bodyPr wrap="square" lIns="91421" tIns="45711" rIns="91421" bIns="45711" rtlCol="0">
            <a:spAutoFit/>
          </a:bodyPr>
          <a:lstStyle/>
          <a:p>
            <a:r>
              <a:rPr lang="en-US" sz="7200" b="1" dirty="0" smtClean="0"/>
              <a:t>Design Thinking process</a:t>
            </a:r>
            <a:endParaRPr lang="en-US" sz="7200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4487862" y="28779787"/>
            <a:ext cx="6019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SID-Model </a:t>
            </a:r>
            <a:endParaRPr lang="en-US" sz="3200" b="1" dirty="0"/>
          </a:p>
        </p:txBody>
      </p:sp>
      <p:graphicFrame>
        <p:nvGraphicFramePr>
          <p:cNvPr id="41" name="Chart 40"/>
          <p:cNvGraphicFramePr/>
          <p:nvPr>
            <p:extLst>
              <p:ext uri="{D42A27DB-BD31-4B8C-83A1-F6EECF244321}">
                <p14:modId xmlns:p14="http://schemas.microsoft.com/office/powerpoint/2010/main" xmlns="" val="319008176"/>
              </p:ext>
            </p:extLst>
          </p:nvPr>
        </p:nvGraphicFramePr>
        <p:xfrm>
          <a:off x="21632862" y="5691187"/>
          <a:ext cx="48006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42" name="Chart 41"/>
          <p:cNvGraphicFramePr/>
          <p:nvPr>
            <p:extLst>
              <p:ext uri="{D42A27DB-BD31-4B8C-83A1-F6EECF244321}">
                <p14:modId xmlns:p14="http://schemas.microsoft.com/office/powerpoint/2010/main" xmlns="" val="2832070318"/>
              </p:ext>
            </p:extLst>
          </p:nvPr>
        </p:nvGraphicFramePr>
        <p:xfrm>
          <a:off x="25214262" y="5691187"/>
          <a:ext cx="5867400" cy="3851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aphicFrame>
        <p:nvGraphicFramePr>
          <p:cNvPr id="43" name="Chart 42"/>
          <p:cNvGraphicFramePr/>
          <p:nvPr>
            <p:extLst>
              <p:ext uri="{D42A27DB-BD31-4B8C-83A1-F6EECF244321}">
                <p14:modId xmlns:p14="http://schemas.microsoft.com/office/powerpoint/2010/main" xmlns="" val="3722229682"/>
              </p:ext>
            </p:extLst>
          </p:nvPr>
        </p:nvGraphicFramePr>
        <p:xfrm>
          <a:off x="289685" y="536449"/>
          <a:ext cx="2466975" cy="23492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graphicFrame>
        <p:nvGraphicFramePr>
          <p:cNvPr id="44" name="Chart 43"/>
          <p:cNvGraphicFramePr/>
          <p:nvPr>
            <p:extLst>
              <p:ext uri="{D42A27DB-BD31-4B8C-83A1-F6EECF244321}">
                <p14:modId xmlns:p14="http://schemas.microsoft.com/office/powerpoint/2010/main" xmlns="" val="3722229682"/>
              </p:ext>
            </p:extLst>
          </p:nvPr>
        </p:nvGraphicFramePr>
        <p:xfrm>
          <a:off x="23918862" y="9577387"/>
          <a:ext cx="4572000" cy="37099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22699662" y="4548187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/>
              <a:t>Market research results</a:t>
            </a:r>
            <a:endParaRPr lang="en-US" sz="4800" b="1" dirty="0"/>
          </a:p>
        </p:txBody>
      </p:sp>
      <p:pic>
        <p:nvPicPr>
          <p:cNvPr id="46" name="Picture 45" descr="1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843662" y="22226587"/>
            <a:ext cx="9372600" cy="805338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33291462" y="21464587"/>
            <a:ext cx="7391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/>
              <a:t>Bill of materials and cost</a:t>
            </a:r>
            <a:endParaRPr lang="en-US" sz="4000" b="1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405</TotalTime>
  <Words>161</Words>
  <Application>Microsoft Office PowerPoint</Application>
  <PresentationFormat>Custom</PresentationFormat>
  <Paragraphs>27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Flow</vt:lpstr>
      <vt:lpstr>Slide 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/>
  <cp:revision>22</cp:revision>
  <dcterms:created xsi:type="dcterms:W3CDTF">2006-08-16T00:00:00Z</dcterms:created>
  <dcterms:modified xsi:type="dcterms:W3CDTF">2019-05-21T20:46:48Z</dcterms:modified>
</cp:coreProperties>
</file>