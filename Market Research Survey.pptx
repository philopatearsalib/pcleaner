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5" autoAdjust="0"/>
    <p:restoredTop sz="94660"/>
  </p:normalViewPr>
  <p:slideViewPr>
    <p:cSldViewPr snapToGrid="0">
      <p:cViewPr varScale="1">
        <p:scale>
          <a:sx n="63" d="100"/>
          <a:sy n="63" d="100"/>
        </p:scale>
        <p:origin x="62" y="5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Would you buy this product/service if it was available ?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50A-4820-8DFA-E1BA068756A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50A-4820-8DFA-E1BA068756A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50A-4820-8DFA-E1BA068756A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50A-4820-8DFA-E1BA068756AB}"/>
              </c:ext>
            </c:extLst>
          </c:dPt>
          <c:cat>
            <c:strRef>
              <c:f>Sheet1!$A$2:$A$5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6.5</c:v>
                </c:pt>
                <c:pt idx="1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50A-4820-8DFA-E1BA068756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3813765435750048"/>
          <c:y val="0.85879880850670798"/>
          <c:w val="0.22650860644187037"/>
          <c:h val="0.1021005072313174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00" dirty="0" smtClean="0"/>
              <a:t>Have you ever paid</a:t>
            </a:r>
            <a:r>
              <a:rPr lang="en-US" sz="1000" baseline="0" dirty="0" smtClean="0"/>
              <a:t> for this product/ service elsewhere?</a:t>
            </a:r>
            <a:endParaRPr lang="en-US" sz="1000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685-4898-99CD-28F4F44F26C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685-4898-99CD-28F4F44F26C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685-4898-99CD-28F4F44F26C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685-4898-99CD-28F4F44F26C0}"/>
              </c:ext>
            </c:extLst>
          </c:dPt>
          <c:cat>
            <c:strRef>
              <c:f>Sheet1!$A$2:$A$5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</c:v>
                </c:pt>
                <c:pt idx="1">
                  <c:v>9.8000000000000007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685-4898-99CD-28F4F44F26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2436112112694138"/>
          <c:y val="0.86295178472709888"/>
          <c:w val="0.25537711646029859"/>
          <c:h val="9.909755113627874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00" dirty="0" smtClean="0"/>
              <a:t>How often would you use this product/service?</a:t>
            </a:r>
            <a:endParaRPr lang="en-US" sz="1000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FA2-48DF-9BFD-10559BBD262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FA2-48DF-9BFD-10559BBD262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FA2-48DF-9BFD-10559BBD262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FA2-48DF-9BFD-10559BBD2625}"/>
              </c:ext>
            </c:extLst>
          </c:dPt>
          <c:cat>
            <c:strRef>
              <c:f>Sheet1!$A$2:$A$5</c:f>
              <c:strCache>
                <c:ptCount val="4"/>
                <c:pt idx="0">
                  <c:v>Daily</c:v>
                </c:pt>
                <c:pt idx="1">
                  <c:v>Weekly</c:v>
                </c:pt>
                <c:pt idx="2">
                  <c:v>Monthly</c:v>
                </c:pt>
                <c:pt idx="3">
                  <c:v>Yearly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-2.5</c:v>
                </c:pt>
                <c:pt idx="1">
                  <c:v>3</c:v>
                </c:pt>
                <c:pt idx="2">
                  <c:v>0.5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FA2-48DF-9BFD-10559BBD26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00" dirty="0" smtClean="0"/>
              <a:t>How</a:t>
            </a:r>
            <a:r>
              <a:rPr lang="en-US" sz="1000" baseline="0" dirty="0" smtClean="0"/>
              <a:t> much would you pay for this product/service</a:t>
            </a:r>
            <a:r>
              <a:rPr lang="en-US" sz="1000" dirty="0" smtClean="0"/>
              <a:t>?</a:t>
            </a:r>
            <a:endParaRPr lang="en-US" sz="1000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418-4920-AEE3-165F2217CF5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418-4920-AEE3-165F2217CF5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418-4920-AEE3-165F2217CF5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418-4920-AEE3-165F2217CF5C}"/>
              </c:ext>
            </c:extLst>
          </c:dPt>
          <c:cat>
            <c:strRef>
              <c:f>Sheet1!$A$2:$A$5</c:f>
              <c:strCache>
                <c:ptCount val="4"/>
                <c:pt idx="0">
                  <c:v>Under $100</c:v>
                </c:pt>
                <c:pt idx="1">
                  <c:v>$100 - $150</c:v>
                </c:pt>
                <c:pt idx="2">
                  <c:v>$150 - $200</c:v>
                </c:pt>
                <c:pt idx="3">
                  <c:v>Over $200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-2.5</c:v>
                </c:pt>
                <c:pt idx="1">
                  <c:v>1.5</c:v>
                </c:pt>
                <c:pt idx="2">
                  <c:v>2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418-4920-AEE3-165F2217CF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00" dirty="0" smtClean="0"/>
              <a:t>Sex</a:t>
            </a:r>
            <a:endParaRPr lang="en-US" sz="1000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EAA-4846-BD35-F92E1AC1493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EAA-4846-BD35-F92E1AC14931}"/>
              </c:ext>
            </c:extLst>
          </c:dPt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-7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EAA-4846-BD35-F92E1AC149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Age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AC0-4FE4-A0CE-0E3FFE9EDB0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AC0-4FE4-A0CE-0E3FFE9EDB0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AC0-4FE4-A0CE-0E3FFE9EDB0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AC0-4FE4-A0CE-0E3FFE9EDB0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AC0-4FE4-A0CE-0E3FFE9EDB0B}"/>
              </c:ext>
            </c:extLst>
          </c:dPt>
          <c:cat>
            <c:strRef>
              <c:f>Sheet1!$A$2:$A$6</c:f>
              <c:strCache>
                <c:ptCount val="5"/>
                <c:pt idx="0">
                  <c:v>Under 20</c:v>
                </c:pt>
                <c:pt idx="1">
                  <c:v>20 - 30</c:v>
                </c:pt>
                <c:pt idx="2">
                  <c:v>31- 45</c:v>
                </c:pt>
                <c:pt idx="3">
                  <c:v>46 - 60</c:v>
                </c:pt>
                <c:pt idx="4">
                  <c:v>Over 60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20</c:v>
                </c:pt>
                <c:pt idx="2">
                  <c:v>12</c:v>
                </c:pt>
                <c:pt idx="3">
                  <c:v>5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AC0-4FE4-A0CE-0E3FFE9EDB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19F4D-FF39-4547-A4E5-8385BCAA95F2}" type="datetimeFigureOut">
              <a:rPr lang="en-US" smtClean="0"/>
              <a:t>5/21/2019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DE42A-45EF-43CB-A16A-7BFF41D9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41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19F4D-FF39-4547-A4E5-8385BCAA95F2}" type="datetimeFigureOut">
              <a:rPr lang="en-US" smtClean="0"/>
              <a:t>5/21/2019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DE42A-45EF-43CB-A16A-7BFF41D9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679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19F4D-FF39-4547-A4E5-8385BCAA95F2}" type="datetimeFigureOut">
              <a:rPr lang="en-US" smtClean="0"/>
              <a:t>5/21/2019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DE42A-45EF-43CB-A16A-7BFF41D9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362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19F4D-FF39-4547-A4E5-8385BCAA95F2}" type="datetimeFigureOut">
              <a:rPr lang="en-US" smtClean="0"/>
              <a:t>5/21/2019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DE42A-45EF-43CB-A16A-7BFF41D9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901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19F4D-FF39-4547-A4E5-8385BCAA95F2}" type="datetimeFigureOut">
              <a:rPr lang="en-US" smtClean="0"/>
              <a:t>5/21/2019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DE42A-45EF-43CB-A16A-7BFF41D9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618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19F4D-FF39-4547-A4E5-8385BCAA95F2}" type="datetimeFigureOut">
              <a:rPr lang="en-US" smtClean="0"/>
              <a:t>5/21/2019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DE42A-45EF-43CB-A16A-7BFF41D9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19F4D-FF39-4547-A4E5-8385BCAA95F2}" type="datetimeFigureOut">
              <a:rPr lang="en-US" smtClean="0"/>
              <a:t>5/21/2019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DE42A-45EF-43CB-A16A-7BFF41D9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189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19F4D-FF39-4547-A4E5-8385BCAA95F2}" type="datetimeFigureOut">
              <a:rPr lang="en-US" smtClean="0"/>
              <a:t>5/21/2019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DE42A-45EF-43CB-A16A-7BFF41D9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203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19F4D-FF39-4547-A4E5-8385BCAA95F2}" type="datetimeFigureOut">
              <a:rPr lang="en-US" smtClean="0"/>
              <a:t>5/21/2019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DE42A-45EF-43CB-A16A-7BFF41D9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272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19F4D-FF39-4547-A4E5-8385BCAA95F2}" type="datetimeFigureOut">
              <a:rPr lang="en-US" smtClean="0"/>
              <a:t>5/21/2019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DE42A-45EF-43CB-A16A-7BFF41D9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16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19F4D-FF39-4547-A4E5-8385BCAA95F2}" type="datetimeFigureOut">
              <a:rPr lang="en-US" smtClean="0"/>
              <a:t>5/21/2019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DE42A-45EF-43CB-A16A-7BFF41D9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9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19F4D-FF39-4547-A4E5-8385BCAA95F2}" type="datetimeFigureOut">
              <a:rPr lang="en-US" smtClean="0"/>
              <a:t>5/21/2019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DE42A-45EF-43CB-A16A-7BFF41D9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90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179"/>
              </p:ext>
            </p:extLst>
          </p:nvPr>
        </p:nvGraphicFramePr>
        <p:xfrm>
          <a:off x="2756660" y="2922461"/>
          <a:ext cx="6394450" cy="12801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97225">
                  <a:extLst>
                    <a:ext uri="{9D8B030D-6E8A-4147-A177-3AD203B41FA5}">
                      <a16:colId xmlns:a16="http://schemas.microsoft.com/office/drawing/2014/main" val="3474963793"/>
                    </a:ext>
                  </a:extLst>
                </a:gridCol>
                <a:gridCol w="3197225">
                  <a:extLst>
                    <a:ext uri="{9D8B030D-6E8A-4147-A177-3AD203B41FA5}">
                      <a16:colId xmlns:a16="http://schemas.microsoft.com/office/drawing/2014/main" val="3472446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800" cap="all" dirty="0">
                          <a:effectLst/>
                        </a:rPr>
                        <a:t> </a:t>
                      </a:r>
                      <a:endParaRPr lang="en-US" sz="1100" cap="all" dirty="0">
                        <a:effectLst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Figure 4: Analyzed Data if customers would buy the product or not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endParaRPr lang="en-US" sz="800" cap="all">
                        <a:effectLst/>
                      </a:endParaRPr>
                    </a:p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Figure 5: Analyzed Data if customers have bought such a product before</a:t>
                      </a:r>
                      <a:endParaRPr lang="en-US" sz="1100">
                        <a:effectLst/>
                      </a:endParaRPr>
                    </a:p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6838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>
                        <a:effectLst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Figure 6: Analyzed Data of how often would customers use this product.</a:t>
                      </a:r>
                      <a:endParaRPr lang="en-US" sz="1100" i="1">
                        <a:solidFill>
                          <a:srgbClr val="4E5B6F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>
                        <a:effectLst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Figure 7: Analyzed Data of how much would customers pay for such a product.</a:t>
                      </a:r>
                      <a:endParaRPr lang="en-US" sz="1100" i="1">
                        <a:solidFill>
                          <a:srgbClr val="4E5B6F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6954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>
                        <a:effectLst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Figure 8: Analyzed Data of how many males or females would use this product.</a:t>
                      </a:r>
                      <a:endParaRPr lang="en-US" sz="1100" i="1">
                        <a:solidFill>
                          <a:srgbClr val="4E5B6F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Figure 9: Analyzed data of the ranges of ages whom would use this product.</a:t>
                      </a:r>
                      <a:endParaRPr lang="en-US" sz="1100" i="1" dirty="0">
                        <a:solidFill>
                          <a:srgbClr val="4E5B6F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5643322"/>
                  </a:ext>
                </a:extLst>
              </a:tr>
            </a:tbl>
          </a:graphicData>
        </a:graphic>
      </p:graphicFrame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3793505193"/>
              </p:ext>
            </p:extLst>
          </p:nvPr>
        </p:nvGraphicFramePr>
        <p:xfrm>
          <a:off x="9214231" y="4034536"/>
          <a:ext cx="2524125" cy="2214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4224569376"/>
              </p:ext>
            </p:extLst>
          </p:nvPr>
        </p:nvGraphicFramePr>
        <p:xfrm>
          <a:off x="3380755" y="4420378"/>
          <a:ext cx="2674938" cy="2079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319008176"/>
              </p:ext>
            </p:extLst>
          </p:nvPr>
        </p:nvGraphicFramePr>
        <p:xfrm>
          <a:off x="149192" y="4202621"/>
          <a:ext cx="2747963" cy="223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2832070318"/>
              </p:ext>
            </p:extLst>
          </p:nvPr>
        </p:nvGraphicFramePr>
        <p:xfrm>
          <a:off x="7751191" y="248127"/>
          <a:ext cx="2598738" cy="2174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956981149"/>
              </p:ext>
            </p:extLst>
          </p:nvPr>
        </p:nvGraphicFramePr>
        <p:xfrm>
          <a:off x="4374007" y="334647"/>
          <a:ext cx="2425700" cy="2001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3722229682"/>
              </p:ext>
            </p:extLst>
          </p:nvPr>
        </p:nvGraphicFramePr>
        <p:xfrm>
          <a:off x="289685" y="536449"/>
          <a:ext cx="2466975" cy="23492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471572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102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Constantia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</cp:revision>
  <dcterms:created xsi:type="dcterms:W3CDTF">2019-05-21T17:52:46Z</dcterms:created>
  <dcterms:modified xsi:type="dcterms:W3CDTF">2019-05-21T17:59:22Z</dcterms:modified>
</cp:coreProperties>
</file>